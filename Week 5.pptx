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Comfortaa-bold.fntdata"/><Relationship Id="rId12" Type="http://schemas.openxmlformats.org/officeDocument/2006/relationships/slide" Target="slides/slide7.xml"/><Relationship Id="rId34" Type="http://schemas.openxmlformats.org/officeDocument/2006/relationships/font" Target="fonts/Comforta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0974dc86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0974dc86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0974dc86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0974dc86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55bd4b81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55bd4b81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5bd4b81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5bd4b81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5bd4b813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5bd4b813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5bd4b813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55bd4b813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55bd4b81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55bd4b81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5bd4b813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5bd4b813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5bd4b81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55bd4b81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5bd4b81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55bd4b81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5bd4b813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5bd4b813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5bd4b813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5bd4b813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5bd4b813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5bd4b813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5bd4b813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5bd4b813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5bd4b813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5bd4b813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5bd4b813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5bd4b813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5bd4b813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5bd4b813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5bd4b813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5bd4b813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5bd4b813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55bd4b813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5bd4b813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5bd4b813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bd4b813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bd4b813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2b06657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2b06657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0974dc86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0974dc86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sz="2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541767" y="497442"/>
            <a:ext cx="1290525" cy="4678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getify/You-Dont-Know-JS/blob/master/up%20%26%20going/ch2.md" TargetMode="External"/><Relationship Id="rId4" Type="http://schemas.openxmlformats.org/officeDocument/2006/relationships/hyperlink" Target="https://www.youtube.com/watch?v=edlFjlzxkS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900" y="1721650"/>
            <a:ext cx="1700201" cy="17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 Scopes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Hoisting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Nested Scopes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Block Scopes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Strict Mode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variable is a placeholder (symbolic container) for data values that can be changed.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An identifier must start with a-z, A-Z, $, or _.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can then contain any of those characters plus the numerals 0-9.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same rules apply to a property name as to a variable identifier.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Reserved words - JS keywords such as for, in, if, null, true, false etc.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Scopes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</a:t>
            </a:r>
            <a:r>
              <a:rPr lang="en"/>
              <a:t>cope is basically a collection of variables as well as the rules of how those variables are accessed by name inside that function. </a:t>
            </a:r>
            <a:r>
              <a:rPr lang="en"/>
              <a:t>i</a:t>
            </a:r>
            <a:r>
              <a:rPr lang="en"/>
              <a:t>.e. only code inside a function can access that function's scoped variables.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variable name has to be unique within the same scope.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keyword is used to declare a variable that will belong to: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1. The current function scope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2. The global scope if at the top level outside of any function.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Hoisting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Hoisting is a behavior in which a variable is "moved" to the top of its enclosing scope.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is because, wherever a </a:t>
            </a: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appears inside a scope: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declaration is taken to belong to the entire scope and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accessible everywhere throughout.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a = 2;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foo();					// works because `foo()` declaration is "hoisted"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 = 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console.log( a );		//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var a;				// declaration is "hoisted" to the top of `foo()`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 a );	    		//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Note:</a:t>
            </a:r>
            <a:r>
              <a:rPr lang="en"/>
              <a:t> Its advisable not to use variable hoisting due to its confusing nature, but function hoisting can be a good approach as we see with foo() from previous slide.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Scopes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Scopes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Declared variables are available anywhere in a scope, including inner or nested scopes.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Is variable b available inside of foo()?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Is variable c available inside of bar()?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</a:rPr>
              <a:t>function</a:t>
            </a:r>
            <a:r>
              <a:rPr lang="en" sz="1300"/>
              <a:t> foo() 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</a:t>
            </a:r>
            <a:r>
              <a:rPr lang="en" sz="1300">
                <a:solidFill>
                  <a:srgbClr val="FF00FF"/>
                </a:solidFill>
              </a:rPr>
              <a:t>var</a:t>
            </a:r>
            <a:r>
              <a:rPr lang="en" sz="1300"/>
              <a:t> a = 1;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</a:t>
            </a:r>
            <a:r>
              <a:rPr lang="en" sz="1300">
                <a:solidFill>
                  <a:srgbClr val="FF00FF"/>
                </a:solidFill>
              </a:rPr>
              <a:t>function</a:t>
            </a:r>
            <a:r>
              <a:rPr lang="en" sz="1300"/>
              <a:t> bar() 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</a:t>
            </a:r>
            <a:r>
              <a:rPr lang="en" sz="1300">
                <a:solidFill>
                  <a:srgbClr val="FF00FF"/>
                </a:solidFill>
              </a:rPr>
              <a:t>var</a:t>
            </a:r>
            <a:r>
              <a:rPr lang="en" sz="1300"/>
              <a:t> b = 2;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</a:t>
            </a:r>
            <a:r>
              <a:rPr lang="en" sz="1300">
                <a:solidFill>
                  <a:srgbClr val="FF00FF"/>
                </a:solidFill>
              </a:rPr>
              <a:t>function</a:t>
            </a:r>
            <a:r>
              <a:rPr lang="en" sz="1300"/>
              <a:t> baz() {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	</a:t>
            </a:r>
            <a:r>
              <a:rPr lang="en" sz="1300">
                <a:solidFill>
                  <a:srgbClr val="FF00FF"/>
                </a:solidFill>
              </a:rPr>
              <a:t>var</a:t>
            </a:r>
            <a:r>
              <a:rPr lang="en" sz="1300"/>
              <a:t> c = 3;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	console.log( a, b, c );	// 1 2 3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}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baz();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	console.log( a, b );			// 1 2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}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bar();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	console.log(a);				// 1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}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foo();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try to access a variable's value in a scope where it's not available, you'll get a </a:t>
            </a:r>
            <a:r>
              <a:rPr lang="en">
                <a:solidFill>
                  <a:srgbClr val="FF0000"/>
                </a:solidFill>
              </a:rPr>
              <a:t>ReferenceError</a:t>
            </a:r>
            <a:r>
              <a:rPr lang="en"/>
              <a:t> thrown.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try to set a variable that hasn't been declared, you'll either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 up creating a variable in the top-level global scope (</a:t>
            </a:r>
            <a:r>
              <a:rPr lang="en">
                <a:solidFill>
                  <a:srgbClr val="FF9900"/>
                </a:solidFill>
              </a:rPr>
              <a:t>bad!</a:t>
            </a:r>
            <a:r>
              <a:rPr lang="en"/>
              <a:t>) or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getting an error, depending on "strict mode"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 = 1;		// `a` not formally declared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a;				// 1 -- oops, auto global variable </a:t>
            </a:r>
            <a:r>
              <a:rPr lang="en">
                <a:solidFill>
                  <a:srgbClr val="FF9900"/>
                </a:solidFill>
              </a:rPr>
              <a:t>:(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WARNING:</a:t>
            </a:r>
            <a:r>
              <a:rPr lang="en"/>
              <a:t> This is a very bad practice. Don't do it! Always formally declare your variables.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Scoping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ES6 introduces the </a:t>
            </a:r>
            <a:r>
              <a:rPr lang="en" sz="1800">
                <a:solidFill>
                  <a:srgbClr val="FF00FF"/>
                </a:solidFill>
              </a:rPr>
              <a:t>let</a:t>
            </a:r>
            <a:r>
              <a:rPr lang="en" sz="1800"/>
              <a:t> keyword that allows you to declare variables to belong to individual block pairs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({ ... }).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a = 1;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if</a:t>
            </a:r>
            <a:r>
              <a:rPr lang="en"/>
              <a:t> (a &gt;= 1)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   	</a:t>
            </a: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b = 2;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</a:t>
            </a:r>
            <a:r>
              <a:rPr lang="en">
                <a:solidFill>
                  <a:srgbClr val="FF00FF"/>
                </a:solidFill>
              </a:rPr>
              <a:t>let</a:t>
            </a:r>
            <a:r>
              <a:rPr lang="en"/>
              <a:t> c = 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</a:t>
            </a:r>
            <a:r>
              <a:rPr lang="en">
                <a:solidFill>
                  <a:srgbClr val="FF00FF"/>
                </a:solidFill>
              </a:rPr>
              <a:t>while</a:t>
            </a:r>
            <a:r>
              <a:rPr lang="en"/>
              <a:t> (c &lt; 5)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</a:t>
            </a:r>
            <a:r>
              <a:rPr lang="en">
                <a:solidFill>
                  <a:srgbClr val="FF00FF"/>
                </a:solidFill>
              </a:rPr>
              <a:t>let</a:t>
            </a:r>
            <a:r>
              <a:rPr lang="en"/>
              <a:t> d = c * 2;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c++;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console.log( a + b + d ); // 9, 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console.log(a);  		//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console.log(b);  		//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of using </a:t>
            </a:r>
            <a:r>
              <a:rPr lang="en">
                <a:solidFill>
                  <a:srgbClr val="FF00FF"/>
                </a:solidFill>
              </a:rPr>
              <a:t>let</a:t>
            </a:r>
            <a:r>
              <a:rPr lang="en"/>
              <a:t> instead of </a:t>
            </a: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, c will belong only to the if statement and thus not to the whole foo() function's scope unlike b. Similarly, d belongs only to the while loop.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Note</a:t>
            </a:r>
            <a:r>
              <a:rPr lang="en"/>
              <a:t>: Block scoping is very useful for managing your variable scopes in a more fine-grained fashion, which can make your code much easier to maintain over 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Statement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statement can be used instead of </a:t>
            </a:r>
            <a:r>
              <a:rPr lang="en">
                <a:solidFill>
                  <a:srgbClr val="FF9900"/>
                </a:solidFill>
              </a:rPr>
              <a:t>if..else..if</a:t>
            </a:r>
            <a:r>
              <a:rPr lang="en"/>
              <a:t> statement. Consider: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if</a:t>
            </a:r>
            <a:r>
              <a:rPr lang="en"/>
              <a:t> (a == 2)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/>
              <a:t>// do something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 </a:t>
            </a:r>
            <a:r>
              <a:rPr lang="en">
                <a:solidFill>
                  <a:srgbClr val="FF00FF"/>
                </a:solidFill>
              </a:rPr>
              <a:t>else if</a:t>
            </a:r>
            <a:r>
              <a:rPr lang="en"/>
              <a:t> (a == 10)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/>
              <a:t>// do another thing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 </a:t>
            </a:r>
            <a:r>
              <a:rPr lang="en">
                <a:solidFill>
                  <a:srgbClr val="FF00FF"/>
                </a:solidFill>
              </a:rPr>
              <a:t>else if</a:t>
            </a:r>
            <a:r>
              <a:rPr lang="en"/>
              <a:t> (a == 42)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/>
              <a:t>// do yet another thing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 </a:t>
            </a:r>
            <a:r>
              <a:rPr lang="en">
                <a:solidFill>
                  <a:srgbClr val="FF00FF"/>
                </a:solidFill>
              </a:rPr>
              <a:t>else</a:t>
            </a:r>
            <a:r>
              <a:rPr lang="en"/>
              <a:t>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i="1" lang="en"/>
              <a:t>// fallback to here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verbose structure can be substituted by </a:t>
            </a:r>
            <a:r>
              <a:rPr lang="en">
                <a:solidFill>
                  <a:srgbClr val="FF9900"/>
                </a:solidFill>
              </a:rPr>
              <a:t>switch</a:t>
            </a:r>
            <a:r>
              <a:rPr lang="en"/>
              <a:t> statement as below: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switch</a:t>
            </a:r>
            <a:r>
              <a:rPr lang="en"/>
              <a:t> (a)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do something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break;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10: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do another 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break;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42: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do yet another 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break;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default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fallback to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“Fall Through”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Note</a:t>
            </a:r>
            <a:r>
              <a:rPr lang="en"/>
              <a:t>: The break is important if you want only the statement(s) in one case to run. Otherwise, a "fall through" will occur.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fall through means that execution will continue with the next case's statements regardless of that case matching. For e.g.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switch</a:t>
            </a:r>
            <a:r>
              <a:rPr lang="en"/>
              <a:t> (a)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10: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some cool stuff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break;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case</a:t>
            </a:r>
            <a:r>
              <a:rPr lang="en"/>
              <a:t> 42: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other stuff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break;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default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fallback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if a is either 2 or 10, it will execute the "some cool stuff" code statements.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Ternary operator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Ternary or conditional operator ( </a:t>
            </a:r>
            <a:r>
              <a:rPr b="1" lang="en">
                <a:solidFill>
                  <a:srgbClr val="FF00FF"/>
                </a:solidFill>
              </a:rPr>
              <a:t>? :</a:t>
            </a:r>
            <a:r>
              <a:rPr lang="en"/>
              <a:t> ) can be used instead of </a:t>
            </a:r>
            <a:r>
              <a:rPr lang="en">
                <a:solidFill>
                  <a:srgbClr val="FF9900"/>
                </a:solidFill>
              </a:rPr>
              <a:t>if..else</a:t>
            </a:r>
            <a:r>
              <a:rPr lang="en"/>
              <a:t> statement.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marks = 60;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grade = null;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if</a:t>
            </a:r>
            <a:r>
              <a:rPr lang="en"/>
              <a:t> (marks &gt;= 50)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grade = 'Pass';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 else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grade = 'Fail';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console.log(grade);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verbose structure can be </a:t>
            </a:r>
            <a:r>
              <a:rPr lang="en"/>
              <a:t>substituted</a:t>
            </a:r>
            <a:r>
              <a:rPr lang="en"/>
              <a:t> with a conditional operator.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var</a:t>
            </a:r>
            <a:r>
              <a:rPr lang="en"/>
              <a:t> marks = 60;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FF"/>
                </a:solidFill>
              </a:rPr>
              <a:t>var</a:t>
            </a:r>
            <a:r>
              <a:rPr lang="en" sz="1500"/>
              <a:t> grade = (marks &gt;= 50) </a:t>
            </a:r>
            <a:r>
              <a:rPr lang="en" sz="1500">
                <a:solidFill>
                  <a:srgbClr val="FF00FF"/>
                </a:solidFill>
              </a:rPr>
              <a:t>?</a:t>
            </a:r>
            <a:r>
              <a:rPr lang="en" sz="1500"/>
              <a:t>  'Pass'  </a:t>
            </a:r>
            <a:r>
              <a:rPr lang="en" sz="1500">
                <a:solidFill>
                  <a:srgbClr val="FF00FF"/>
                </a:solidFill>
              </a:rPr>
              <a:t>:</a:t>
            </a:r>
            <a:r>
              <a:rPr lang="en" sz="1500"/>
              <a:t>  'Fail';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console.log(grade);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Strict Mode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"use strict";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Introduced in ES5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Goal was to tighten the rules for certain behaviors.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As a result, keeps your code to a </a:t>
            </a:r>
            <a:r>
              <a:rPr b="1" lang="en" u="sng"/>
              <a:t>safer path</a:t>
            </a:r>
            <a:r>
              <a:rPr lang="en"/>
              <a:t> and makes it more </a:t>
            </a:r>
            <a:r>
              <a:rPr b="1" lang="en" u="sng"/>
              <a:t>optimizable</a:t>
            </a:r>
            <a:r>
              <a:rPr lang="en"/>
              <a:t> by the JS engine.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You can opt in to strict mode for an individual function, or an entire file, depending on where you put the </a:t>
            </a:r>
            <a:r>
              <a:rPr b="1" lang="en"/>
              <a:t>strict mode pragma</a:t>
            </a:r>
            <a:r>
              <a:rPr lang="en"/>
              <a:t>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9900"/>
                </a:solidFill>
              </a:rPr>
              <a:t>"use strict";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// this code is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bar()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this code is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this code is not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that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"use strict";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// this code is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bar()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// this code is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this code is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trict mode disallows the implicit auto-global variable declaration from omitting the var: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function</a:t>
            </a:r>
            <a:r>
              <a:rPr lang="en"/>
              <a:t> foo()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"use strict";		// turn on strict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 = 1;			// `var` missing, </a:t>
            </a:r>
            <a:r>
              <a:rPr lang="en">
                <a:solidFill>
                  <a:srgbClr val="FF0000"/>
                </a:solidFill>
              </a:rPr>
              <a:t>ReferenceError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Note:</a:t>
            </a:r>
            <a:r>
              <a:rPr lang="en"/>
              <a:t> </a:t>
            </a:r>
            <a:r>
              <a:rPr lang="en"/>
              <a:t>If you turn on strict mode in your code and it turns out buggy, you certainly have things in your program that you should fix.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program to determine the grade of a student as below:</a:t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80 and above -&gt; A</a:t>
            </a:r>
            <a:endParaRPr sz="1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70 - 79 -&gt; B</a:t>
            </a:r>
            <a:endParaRPr sz="1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60 - 69 -&gt; C</a:t>
            </a:r>
            <a:endParaRPr sz="1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50 - 59 -&gt; D</a:t>
            </a:r>
            <a:endParaRPr sz="1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0 - 49 -&gt; E</a:t>
            </a:r>
            <a:endParaRPr sz="14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Anything else -&gt; 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program should contain a function getGrade() that requires marks as a parameter i.e.</a:t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getGrade(marks) e.g. </a:t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 marks = 84;</a:t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getGrade(marks) returns "A"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As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Immediately Invoked Function Expressions (IIFEs)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Modules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Course material: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https://github.com/getify/You-Dont-Know-JS/blob/master/up%20%26%20going/ch2.md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Video Of The Week</a:t>
            </a:r>
            <a:r>
              <a:rPr lang="en"/>
              <a:t> -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https://www.youtube.com/watch?v=edlFjlzxkSI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